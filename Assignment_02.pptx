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76" r:id="rId7"/>
    <p:sldId id="277"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8D373E3-C4D0-4FFD-9EA5-B7C1AFF07185}">
          <p14:sldIdLst>
            <p14:sldId id="256"/>
            <p14:sldId id="257"/>
            <p14:sldId id="258"/>
            <p14:sldId id="260"/>
            <p14:sldId id="259"/>
            <p14:sldId id="276"/>
            <p14:sldId id="277"/>
            <p14:sldId id="261"/>
            <p14:sldId id="262"/>
            <p14:sldId id="263"/>
            <p14:sldId id="264"/>
            <p14:sldId id="265"/>
            <p14:sldId id="266"/>
            <p14:sldId id="267"/>
            <p14:sldId id="268"/>
            <p14:sldId id="269"/>
            <p14:sldId id="270"/>
            <p14:sldId id="271"/>
            <p14:sldId id="272"/>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035242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4044653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20643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14C9DD-F077-4A6A-AE5C-81BA72E9AC07}"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202951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14C9DD-F077-4A6A-AE5C-81BA72E9AC07}"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344996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14C9DD-F077-4A6A-AE5C-81BA72E9AC07}"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3906781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14C9DD-F077-4A6A-AE5C-81BA72E9AC07}"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624849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E14C9DD-F077-4A6A-AE5C-81BA72E9AC07}"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799229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14C9DD-F077-4A6A-AE5C-81BA72E9AC07}"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2192943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4035998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32631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107676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80606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32771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2992331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14C9DD-F077-4A6A-AE5C-81BA72E9AC07}"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8B8F-7737-45AF-A90A-3C0C8F98ED13}" type="slidenum">
              <a:rPr lang="en-US" smtClean="0"/>
              <a:t>‹#›</a:t>
            </a:fld>
            <a:endParaRPr lang="en-US"/>
          </a:p>
        </p:txBody>
      </p:sp>
    </p:spTree>
    <p:extLst>
      <p:ext uri="{BB962C8B-B14F-4D97-AF65-F5344CB8AC3E}">
        <p14:creationId xmlns:p14="http://schemas.microsoft.com/office/powerpoint/2010/main" val="160613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E14C9DD-F077-4A6A-AE5C-81BA72E9AC07}" type="datetimeFigureOut">
              <a:rPr lang="en-US" smtClean="0"/>
              <a:t>12/17/2025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F98B8F-7737-45AF-A90A-3C0C8F98ED13}" type="slidenum">
              <a:rPr lang="en-US" smtClean="0"/>
              <a:t>‹#›</a:t>
            </a:fld>
            <a:endParaRPr lang="en-US"/>
          </a:p>
        </p:txBody>
      </p:sp>
    </p:spTree>
    <p:extLst>
      <p:ext uri="{BB962C8B-B14F-4D97-AF65-F5344CB8AC3E}">
        <p14:creationId xmlns:p14="http://schemas.microsoft.com/office/powerpoint/2010/main" val="29582599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dsa/evaluation-of-postfix-express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compiler-design/parse-tree-in-compiler-design/" TargetMode="External"/><Relationship Id="rId2" Type="http://schemas.openxmlformats.org/officeDocument/2006/relationships/hyperlink" Target="https://www.geeksforgeeks.org/compiler-design/compiler-design-variants-of-syntax-tre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computer-organization-architecture/what-is-machine-language/" TargetMode="External"/><Relationship Id="rId2" Type="http://schemas.openxmlformats.org/officeDocument/2006/relationships/hyperlink" Target="https://www.geeksforgeeks.org/software-engineering/what-is-high-level-languag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C28A8-0DC3-449D-06FA-E57839DA43CB}"/>
              </a:ext>
            </a:extLst>
          </p:cNvPr>
          <p:cNvSpPr>
            <a:spLocks noGrp="1"/>
          </p:cNvSpPr>
          <p:nvPr>
            <p:ph type="ctrTitle"/>
          </p:nvPr>
        </p:nvSpPr>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Significance of Intermediate Code Generation</a:t>
            </a:r>
            <a:br>
              <a:rPr lang="en-US" dirty="0">
                <a:latin typeface="Times New Roman" panose="02020603050405020304" pitchFamily="18"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62CB5B21-08DF-4587-D525-DEB810721D4E}"/>
              </a:ext>
            </a:extLst>
          </p:cNvPr>
          <p:cNvSpPr>
            <a:spLocks noGrp="1"/>
          </p:cNvSpPr>
          <p:nvPr>
            <p:ph type="subTitle" idx="1"/>
          </p:nvPr>
        </p:nvSpPr>
        <p:spPr>
          <a:xfrm>
            <a:off x="1524000" y="3900196"/>
            <a:ext cx="9144000" cy="2211354"/>
          </a:xfrm>
        </p:spPr>
        <p:txBody>
          <a:bodyPr>
            <a:normAutofit/>
          </a:bodyPr>
          <a:lstStyle/>
          <a:p>
            <a:pPr algn="l"/>
            <a:r>
              <a:rPr lang="en-US" sz="2400" b="1" dirty="0">
                <a:solidFill>
                  <a:schemeClr val="accent2">
                    <a:lumMod val="75000"/>
                  </a:schemeClr>
                </a:solidFill>
                <a:latin typeface="Times New Roman" panose="02020603050405020304" pitchFamily="18" charset="0"/>
                <a:cs typeface="Times New Roman" panose="02020603050405020304" pitchFamily="18" charset="0"/>
              </a:rPr>
              <a:t>Course: Compiler Design</a:t>
            </a:r>
            <a:br>
              <a:rPr lang="en-US" sz="2400" b="1" dirty="0">
                <a:solidFill>
                  <a:schemeClr val="accent2">
                    <a:lumMod val="75000"/>
                  </a:schemeClr>
                </a:solidFill>
                <a:latin typeface="Times New Roman" panose="02020603050405020304" pitchFamily="18" charset="0"/>
                <a:cs typeface="Times New Roman" panose="02020603050405020304" pitchFamily="18" charset="0"/>
              </a:rPr>
            </a:br>
            <a:r>
              <a:rPr lang="en-US" sz="2400" b="1" dirty="0">
                <a:solidFill>
                  <a:schemeClr val="accent2">
                    <a:lumMod val="75000"/>
                  </a:schemeClr>
                </a:solidFill>
                <a:latin typeface="Times New Roman" panose="02020603050405020304" pitchFamily="18" charset="0"/>
                <a:cs typeface="Times New Roman" panose="02020603050405020304" pitchFamily="18" charset="0"/>
              </a:rPr>
              <a:t>Student Name: YARED MESFIN</a:t>
            </a:r>
            <a:br>
              <a:rPr lang="en-US" sz="2400" b="1" dirty="0">
                <a:solidFill>
                  <a:schemeClr val="accent2">
                    <a:lumMod val="75000"/>
                  </a:schemeClr>
                </a:solidFill>
                <a:latin typeface="Times New Roman" panose="02020603050405020304" pitchFamily="18" charset="0"/>
                <a:cs typeface="Times New Roman" panose="02020603050405020304" pitchFamily="18" charset="0"/>
              </a:rPr>
            </a:br>
            <a:r>
              <a:rPr lang="en-US" sz="2400" b="1" dirty="0">
                <a:solidFill>
                  <a:schemeClr val="accent2">
                    <a:lumMod val="75000"/>
                  </a:schemeClr>
                </a:solidFill>
                <a:latin typeface="Times New Roman" panose="02020603050405020304" pitchFamily="18" charset="0"/>
                <a:cs typeface="Times New Roman" panose="02020603050405020304" pitchFamily="18" charset="0"/>
              </a:rPr>
              <a:t>Student ID: 1411368</a:t>
            </a:r>
            <a:br>
              <a:rPr lang="en-US" sz="2000" b="1" dirty="0">
                <a:latin typeface="Times New Roman" panose="02020603050405020304" pitchFamily="18" charset="0"/>
                <a:cs typeface="Times New Roman" panose="02020603050405020304" pitchFamily="18" charset="0"/>
              </a:rPr>
            </a:br>
            <a:endParaRPr lang="en-US" sz="2000" b="1" dirty="0"/>
          </a:p>
          <a:p>
            <a:endParaRPr lang="en-US" dirty="0"/>
          </a:p>
          <a:p>
            <a:endParaRPr lang="en-US" dirty="0"/>
          </a:p>
          <a:p>
            <a:endParaRPr lang="en-US" dirty="0"/>
          </a:p>
        </p:txBody>
      </p:sp>
    </p:spTree>
    <p:extLst>
      <p:ext uri="{BB962C8B-B14F-4D97-AF65-F5344CB8AC3E}">
        <p14:creationId xmlns:p14="http://schemas.microsoft.com/office/powerpoint/2010/main" val="1535363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47D4-BB45-D6B4-204A-ADF8B90349A7}"/>
              </a:ext>
            </a:extLst>
          </p:cNvPr>
          <p:cNvSpPr>
            <a:spLocks noGrp="1"/>
          </p:cNvSpPr>
          <p:nvPr>
            <p:ph type="title"/>
          </p:nvPr>
        </p:nvSpPr>
        <p:spPr>
          <a:xfrm>
            <a:off x="677334" y="233265"/>
            <a:ext cx="8596668" cy="858417"/>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CA928DD7-6D06-5B77-106E-3BE86C7442C8}"/>
              </a:ext>
            </a:extLst>
          </p:cNvPr>
          <p:cNvSpPr>
            <a:spLocks noGrp="1" noChangeArrowheads="1"/>
          </p:cNvSpPr>
          <p:nvPr>
            <p:ph idx="1"/>
          </p:nvPr>
        </p:nvSpPr>
        <p:spPr bwMode="auto">
          <a:xfrm>
            <a:off x="438539" y="951722"/>
            <a:ext cx="9504666" cy="205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analysis synthesis model</a:t>
            </a:r>
            <a:r>
              <a:rPr lang="en-US" sz="2000" dirty="0">
                <a:latin typeface="Times New Roman" panose="02020603050405020304" pitchFamily="18" charset="0"/>
                <a:cs typeface="Times New Roman" panose="02020603050405020304" pitchFamily="18" charset="0"/>
              </a:rPr>
              <a:t> of a compiler:</a:t>
            </a:r>
          </a:p>
          <a:p>
            <a:pPr lvl="1">
              <a:buFont typeface="Wingdings" panose="05000000000000000000" pitchFamily="2" charset="2"/>
              <a:buChar char="v"/>
            </a:pPr>
            <a:r>
              <a:rPr lang="en-US" sz="1800" b="1" dirty="0">
                <a:latin typeface="Times New Roman" panose="02020603050405020304" pitchFamily="18" charset="0"/>
                <a:cs typeface="Times New Roman" panose="02020603050405020304" pitchFamily="18" charset="0"/>
              </a:rPr>
              <a:t>Front End</a:t>
            </a:r>
            <a:r>
              <a:rPr lang="en-US" sz="1800" dirty="0">
                <a:latin typeface="Times New Roman" panose="02020603050405020304" pitchFamily="18" charset="0"/>
                <a:cs typeface="Times New Roman" panose="02020603050405020304" pitchFamily="18" charset="0"/>
              </a:rPr>
              <a:t> → Translates source code into </a:t>
            </a:r>
            <a:r>
              <a:rPr lang="en-US" sz="1800" b="1" dirty="0">
                <a:latin typeface="Times New Roman" panose="02020603050405020304" pitchFamily="18" charset="0"/>
                <a:cs typeface="Times New Roman" panose="02020603050405020304" pitchFamily="18" charset="0"/>
              </a:rPr>
              <a:t>intermediate code</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US" sz="1800" b="1" dirty="0">
                <a:latin typeface="Times New Roman" panose="02020603050405020304" pitchFamily="18" charset="0"/>
                <a:cs typeface="Times New Roman" panose="02020603050405020304" pitchFamily="18" charset="0"/>
              </a:rPr>
              <a:t>Back End</a:t>
            </a:r>
            <a:r>
              <a:rPr lang="en-US" sz="1800" dirty="0">
                <a:latin typeface="Times New Roman" panose="02020603050405020304" pitchFamily="18" charset="0"/>
                <a:cs typeface="Times New Roman" panose="02020603050405020304" pitchFamily="18" charset="0"/>
              </a:rPr>
              <a:t> → Converts intermediate code into </a:t>
            </a:r>
            <a:r>
              <a:rPr lang="en-US" sz="1800" b="1" dirty="0">
                <a:latin typeface="Times New Roman" panose="02020603050405020304" pitchFamily="18" charset="0"/>
                <a:cs typeface="Times New Roman" panose="02020603050405020304" pitchFamily="18" charset="0"/>
              </a:rPr>
              <a:t>target machine code</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Intermediate code acts as a </a:t>
            </a:r>
            <a:r>
              <a:rPr lang="en-US" sz="2000" b="1" dirty="0">
                <a:latin typeface="Times New Roman" panose="02020603050405020304" pitchFamily="18" charset="0"/>
                <a:cs typeface="Times New Roman" panose="02020603050405020304" pitchFamily="18" charset="0"/>
              </a:rPr>
              <a:t>bridge</a:t>
            </a:r>
            <a:r>
              <a:rPr lang="en-US" sz="2000" dirty="0">
                <a:latin typeface="Times New Roman" panose="02020603050405020304" pitchFamily="18" charset="0"/>
                <a:cs typeface="Times New Roman" panose="02020603050405020304" pitchFamily="18" charset="0"/>
              </a:rPr>
              <a:t> between high-level language and machine code</a:t>
            </a:r>
          </a:p>
          <a:p>
            <a:pPr>
              <a:buFont typeface="Arial" panose="020B0604020202020204" pitchFamily="34" charset="0"/>
              <a:buChar char="•"/>
            </a:pPr>
            <a:endParaRPr lang="en-US" dirty="0"/>
          </a:p>
        </p:txBody>
      </p:sp>
      <p:pic>
        <p:nvPicPr>
          <p:cNvPr id="6" name="Picture 5" descr="A diagram of a process&#10;&#10;AI-generated content may be incorrect.">
            <a:extLst>
              <a:ext uri="{FF2B5EF4-FFF2-40B4-BE49-F238E27FC236}">
                <a16:creationId xmlns:a16="http://schemas.microsoft.com/office/drawing/2014/main" id="{2789ED24-35A3-6588-2915-73027AD8B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657" y="2472612"/>
            <a:ext cx="7744505" cy="4385388"/>
          </a:xfrm>
          <a:prstGeom prst="rect">
            <a:avLst/>
          </a:prstGeom>
        </p:spPr>
      </p:pic>
    </p:spTree>
    <p:extLst>
      <p:ext uri="{BB962C8B-B14F-4D97-AF65-F5344CB8AC3E}">
        <p14:creationId xmlns:p14="http://schemas.microsoft.com/office/powerpoint/2010/main" val="483542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93AC4-19D9-C392-3DB0-20545385027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Intermediate Code Generation?</a:t>
            </a:r>
          </a:p>
        </p:txBody>
      </p:sp>
      <p:sp>
        <p:nvSpPr>
          <p:cNvPr id="4" name="Rectangle 1">
            <a:extLst>
              <a:ext uri="{FF2B5EF4-FFF2-40B4-BE49-F238E27FC236}">
                <a16:creationId xmlns:a16="http://schemas.microsoft.com/office/drawing/2014/main" id="{A40EF7B1-8488-3EC1-5377-495033EA765A}"/>
              </a:ext>
            </a:extLst>
          </p:cNvPr>
          <p:cNvSpPr>
            <a:spLocks noGrp="1" noChangeArrowheads="1"/>
          </p:cNvSpPr>
          <p:nvPr>
            <p:ph idx="1"/>
          </p:nvPr>
        </p:nvSpPr>
        <p:spPr bwMode="auto">
          <a:xfrm>
            <a:off x="550506" y="982377"/>
            <a:ext cx="8905401"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Intermediate Code Generation is a </a:t>
            </a:r>
            <a:r>
              <a:rPr lang="en-US" sz="2400" b="1" dirty="0">
                <a:latin typeface="Times New Roman" panose="02020603050405020304" pitchFamily="18" charset="0"/>
                <a:cs typeface="Times New Roman" panose="02020603050405020304" pitchFamily="18" charset="0"/>
              </a:rPr>
              <a:t>compiler phase</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Converts high level source code into an </a:t>
            </a:r>
            <a:r>
              <a:rPr lang="en-US" sz="2400" b="1" dirty="0">
                <a:latin typeface="Times New Roman" panose="02020603050405020304" pitchFamily="18" charset="0"/>
                <a:cs typeface="Times New Roman" panose="02020603050405020304" pitchFamily="18" charset="0"/>
              </a:rPr>
              <a:t>intermediate representation </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intermediate representation</a:t>
            </a:r>
            <a:r>
              <a:rPr lang="en-US" sz="2400" dirty="0">
                <a:latin typeface="Times New Roman" panose="02020603050405020304" pitchFamily="18" charset="0"/>
                <a:cs typeface="Times New Roman" panose="02020603050405020304" pitchFamily="18" charset="0"/>
              </a:rPr>
              <a:t> is:</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Easier to analyze</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Easier to optimize</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Independent of machine architecture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7111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E1541-34E4-FF2B-1A3A-92001A3D9C5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Why Intermediate Code is Used</a:t>
            </a:r>
          </a:p>
        </p:txBody>
      </p:sp>
      <p:sp>
        <p:nvSpPr>
          <p:cNvPr id="3" name="Content Placeholder 2">
            <a:extLst>
              <a:ext uri="{FF2B5EF4-FFF2-40B4-BE49-F238E27FC236}">
                <a16:creationId xmlns:a16="http://schemas.microsoft.com/office/drawing/2014/main" id="{DF71E525-68DE-23F9-E351-975D7CC31582}"/>
              </a:ext>
            </a:extLst>
          </p:cNvPr>
          <p:cNvSpPr>
            <a:spLocks noGrp="1"/>
          </p:cNvSpPr>
          <p:nvPr>
            <p:ph idx="1"/>
          </p:nvPr>
        </p:nvSpPr>
        <p:spPr>
          <a:xfrm>
            <a:off x="677334" y="1362270"/>
            <a:ext cx="8596668" cy="4669762"/>
          </a:xfrm>
        </p:spPr>
        <p:txBody>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Enhances </a:t>
            </a:r>
            <a:r>
              <a:rPr lang="en-US" sz="2400" b="1" dirty="0">
                <a:latin typeface="Times New Roman" panose="02020603050405020304" pitchFamily="18" charset="0"/>
                <a:cs typeface="Times New Roman" panose="02020603050405020304" pitchFamily="18" charset="0"/>
              </a:rPr>
              <a:t>portability</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Facilitates </a:t>
            </a:r>
            <a:r>
              <a:rPr lang="en-US" sz="2400" b="1" dirty="0">
                <a:latin typeface="Times New Roman" panose="02020603050405020304" pitchFamily="18" charset="0"/>
                <a:cs typeface="Times New Roman" panose="02020603050405020304" pitchFamily="18" charset="0"/>
              </a:rPr>
              <a:t>retargeting</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Enables </a:t>
            </a:r>
            <a:r>
              <a:rPr lang="en-US" sz="2400" b="1" dirty="0">
                <a:latin typeface="Times New Roman" panose="02020603050405020304" pitchFamily="18" charset="0"/>
                <a:cs typeface="Times New Roman" panose="02020603050405020304" pitchFamily="18" charset="0"/>
              </a:rPr>
              <a:t>optimization</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Simplifies compiler design</a:t>
            </a:r>
          </a:p>
          <a:p>
            <a:r>
              <a:rPr lang="en-US" sz="2400" dirty="0">
                <a:latin typeface="Times New Roman" panose="02020603050405020304" pitchFamily="18" charset="0"/>
                <a:cs typeface="Times New Roman" panose="02020603050405020304" pitchFamily="18" charset="0"/>
              </a:rPr>
              <a:t> Machine independent intermediate code is the key reason modern compilers are portable.</a:t>
            </a:r>
          </a:p>
          <a:p>
            <a:endParaRPr lang="en-US" dirty="0"/>
          </a:p>
        </p:txBody>
      </p:sp>
    </p:spTree>
    <p:extLst>
      <p:ext uri="{BB962C8B-B14F-4D97-AF65-F5344CB8AC3E}">
        <p14:creationId xmlns:p14="http://schemas.microsoft.com/office/powerpoint/2010/main" val="3378872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0F4E2-D399-F8CE-7EDD-7E510560A83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Position in Compiler Phases</a:t>
            </a:r>
          </a:p>
        </p:txBody>
      </p:sp>
      <p:pic>
        <p:nvPicPr>
          <p:cNvPr id="5" name="Content Placeholder 4" descr="A diagram of a computer code&#10;&#10;AI-generated content may be incorrect.">
            <a:extLst>
              <a:ext uri="{FF2B5EF4-FFF2-40B4-BE49-F238E27FC236}">
                <a16:creationId xmlns:a16="http://schemas.microsoft.com/office/drawing/2014/main" id="{8F97117B-C2E3-B576-1D7B-9D2DCC9B7C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5110" y="1371600"/>
            <a:ext cx="8117633" cy="4670425"/>
          </a:xfrm>
        </p:spPr>
      </p:pic>
    </p:spTree>
    <p:extLst>
      <p:ext uri="{BB962C8B-B14F-4D97-AF65-F5344CB8AC3E}">
        <p14:creationId xmlns:p14="http://schemas.microsoft.com/office/powerpoint/2010/main" val="279593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64D0-C9D3-9642-9990-FC2FEFE67506}"/>
              </a:ext>
            </a:extLst>
          </p:cNvPr>
          <p:cNvSpPr>
            <a:spLocks noGrp="1"/>
          </p:cNvSpPr>
          <p:nvPr>
            <p:ph type="title"/>
          </p:nvPr>
        </p:nvSpPr>
        <p:spPr>
          <a:xfrm>
            <a:off x="677334" y="609600"/>
            <a:ext cx="8596668" cy="762000"/>
          </a:xfrm>
        </p:spPr>
        <p:txBody>
          <a:bodyPr/>
          <a:lstStyle/>
          <a:p>
            <a:r>
              <a:rPr lang="en-US" dirty="0">
                <a:latin typeface="Times New Roman" panose="02020603050405020304" pitchFamily="18" charset="0"/>
                <a:cs typeface="Times New Roman" panose="02020603050405020304" pitchFamily="18" charset="0"/>
              </a:rPr>
              <a:t>Case Study Java Compiler &amp; Bytecode</a:t>
            </a:r>
          </a:p>
        </p:txBody>
      </p:sp>
      <p:sp>
        <p:nvSpPr>
          <p:cNvPr id="3" name="Content Placeholder 2">
            <a:extLst>
              <a:ext uri="{FF2B5EF4-FFF2-40B4-BE49-F238E27FC236}">
                <a16:creationId xmlns:a16="http://schemas.microsoft.com/office/drawing/2014/main" id="{7D610BB1-970B-4673-EC92-B11F1BA2E169}"/>
              </a:ext>
            </a:extLst>
          </p:cNvPr>
          <p:cNvSpPr>
            <a:spLocks noGrp="1"/>
          </p:cNvSpPr>
          <p:nvPr>
            <p:ph idx="1"/>
          </p:nvPr>
        </p:nvSpPr>
        <p:spPr>
          <a:xfrm>
            <a:off x="677334" y="1371601"/>
            <a:ext cx="8596668" cy="4669762"/>
          </a:xfrm>
        </p:spPr>
        <p:txBody>
          <a:bodyPr/>
          <a:lstStyle/>
          <a:p>
            <a:pPr marL="0" indent="0">
              <a:buNone/>
            </a:pPr>
            <a:r>
              <a:rPr lang="en-US" sz="2400" b="1" dirty="0">
                <a:latin typeface="Times New Roman" panose="02020603050405020304" pitchFamily="18" charset="0"/>
                <a:cs typeface="Times New Roman" panose="02020603050405020304" pitchFamily="18" charset="0"/>
              </a:rPr>
              <a:t>    How Intermediate Code is Used in Java</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Java compiler (</a:t>
            </a:r>
            <a:r>
              <a:rPr lang="en-US" sz="2000" dirty="0" err="1">
                <a:latin typeface="Times New Roman" panose="02020603050405020304" pitchFamily="18" charset="0"/>
                <a:cs typeface="Times New Roman" panose="02020603050405020304" pitchFamily="18" charset="0"/>
              </a:rPr>
              <a:t>javac</a:t>
            </a:r>
            <a:r>
              <a:rPr lang="en-US" sz="2000" dirty="0">
                <a:latin typeface="Times New Roman" panose="02020603050405020304" pitchFamily="18" charset="0"/>
                <a:cs typeface="Times New Roman" panose="02020603050405020304" pitchFamily="18" charset="0"/>
              </a:rPr>
              <a:t>) does not directly generate machine code.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Instead it translates Java source code into Bytecode, which is a form of intermediate code.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Bytecode is: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Platform independent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Executed by the Java Virtual Machine (JVM)</a:t>
            </a:r>
          </a:p>
          <a:p>
            <a:endParaRPr lang="en-US" dirty="0"/>
          </a:p>
        </p:txBody>
      </p:sp>
    </p:spTree>
    <p:extLst>
      <p:ext uri="{BB962C8B-B14F-4D97-AF65-F5344CB8AC3E}">
        <p14:creationId xmlns:p14="http://schemas.microsoft.com/office/powerpoint/2010/main" val="3852624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06D5-7ECB-1EAD-0DD2-7CC2F47BE905}"/>
              </a:ext>
            </a:extLst>
          </p:cNvPr>
          <p:cNvSpPr>
            <a:spLocks noGrp="1"/>
          </p:cNvSpPr>
          <p:nvPr>
            <p:ph type="title"/>
          </p:nvPr>
        </p:nvSpPr>
        <p:spPr>
          <a:xfrm>
            <a:off x="677334" y="609600"/>
            <a:ext cx="8596668" cy="808653"/>
          </a:xfrm>
        </p:spPr>
        <p:txBody>
          <a:bodyPr/>
          <a:lstStyle/>
          <a:p>
            <a:pPr algn="ctr"/>
            <a:r>
              <a:rPr lang="en-US" dirty="0">
                <a:latin typeface="Times New Roman" panose="02020603050405020304" pitchFamily="18" charset="0"/>
                <a:cs typeface="Times New Roman" panose="02020603050405020304" pitchFamily="18" charset="0"/>
              </a:rPr>
              <a:t>Java Compilation Process</a:t>
            </a:r>
          </a:p>
        </p:txBody>
      </p:sp>
      <p:pic>
        <p:nvPicPr>
          <p:cNvPr id="5" name="Content Placeholder 4" descr="A diagram of a computer program&#10;&#10;AI-generated content may be incorrect.">
            <a:extLst>
              <a:ext uri="{FF2B5EF4-FFF2-40B4-BE49-F238E27FC236}">
                <a16:creationId xmlns:a16="http://schemas.microsoft.com/office/drawing/2014/main" id="{2EB6C3F2-035A-B20D-79CE-103BE64A9F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7624" y="1324948"/>
            <a:ext cx="7557796" cy="4717078"/>
          </a:xfrm>
        </p:spPr>
      </p:pic>
    </p:spTree>
    <p:extLst>
      <p:ext uri="{BB962C8B-B14F-4D97-AF65-F5344CB8AC3E}">
        <p14:creationId xmlns:p14="http://schemas.microsoft.com/office/powerpoint/2010/main" val="401276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467AD-B4D4-FBAF-8562-1EDAC9A18FF2}"/>
              </a:ext>
            </a:extLst>
          </p:cNvPr>
          <p:cNvSpPr>
            <a:spLocks noGrp="1"/>
          </p:cNvSpPr>
          <p:nvPr>
            <p:ph type="title"/>
          </p:nvPr>
        </p:nvSpPr>
        <p:spPr>
          <a:xfrm>
            <a:off x="677334" y="401216"/>
            <a:ext cx="8596668" cy="1035698"/>
          </a:xfrm>
        </p:spPr>
        <p:txBody>
          <a:bodyPr>
            <a:normAutofit fontScale="90000"/>
          </a:bodyPr>
          <a:lstStyle/>
          <a:p>
            <a:r>
              <a:rPr lang="en-US" dirty="0">
                <a:latin typeface="Times New Roman" panose="02020603050405020304" pitchFamily="18" charset="0"/>
                <a:cs typeface="Times New Roman" panose="02020603050405020304" pitchFamily="18" charset="0"/>
              </a:rPr>
              <a:t>Benefits of Machine Independent Intermediate Code</a:t>
            </a:r>
          </a:p>
        </p:txBody>
      </p:sp>
      <p:sp>
        <p:nvSpPr>
          <p:cNvPr id="4" name="Rectangle 1">
            <a:extLst>
              <a:ext uri="{FF2B5EF4-FFF2-40B4-BE49-F238E27FC236}">
                <a16:creationId xmlns:a16="http://schemas.microsoft.com/office/drawing/2014/main" id="{E7AA71FF-96CD-B03F-F3EE-D96DABD379C6}"/>
              </a:ext>
            </a:extLst>
          </p:cNvPr>
          <p:cNvSpPr>
            <a:spLocks noGrp="1" noChangeArrowheads="1"/>
          </p:cNvSpPr>
          <p:nvPr>
            <p:ph idx="1"/>
          </p:nvPr>
        </p:nvSpPr>
        <p:spPr bwMode="auto">
          <a:xfrm>
            <a:off x="636743" y="1656003"/>
            <a:ext cx="859666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Portability is enhanced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Only one optimizer is required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Compiler need not be rewritten for every new machine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Easy to adapt compiler to different architectures</a:t>
            </a:r>
          </a:p>
        </p:txBody>
      </p:sp>
    </p:spTree>
    <p:extLst>
      <p:ext uri="{BB962C8B-B14F-4D97-AF65-F5344CB8AC3E}">
        <p14:creationId xmlns:p14="http://schemas.microsoft.com/office/powerpoint/2010/main" val="1376091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15340-0444-AD21-E0C5-24A09CFB627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Role of Intermediate Code Generation</a:t>
            </a:r>
          </a:p>
        </p:txBody>
      </p:sp>
      <p:sp>
        <p:nvSpPr>
          <p:cNvPr id="4" name="Rectangle 1">
            <a:extLst>
              <a:ext uri="{FF2B5EF4-FFF2-40B4-BE49-F238E27FC236}">
                <a16:creationId xmlns:a16="http://schemas.microsoft.com/office/drawing/2014/main" id="{C9A79D9D-E0B9-5CA6-ACAC-497EE43C50D0}"/>
              </a:ext>
            </a:extLst>
          </p:cNvPr>
          <p:cNvSpPr>
            <a:spLocks noGrp="1" noChangeArrowheads="1"/>
          </p:cNvSpPr>
          <p:nvPr>
            <p:ph idx="1"/>
          </p:nvPr>
        </p:nvSpPr>
        <p:spPr bwMode="auto">
          <a:xfrm>
            <a:off x="746448" y="1620481"/>
            <a:ext cx="913466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Translation: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Converts source code to </a:t>
            </a:r>
            <a:r>
              <a:rPr lang="en-US" sz="2400" b="1" dirty="0">
                <a:latin typeface="Times New Roman" panose="02020603050405020304" pitchFamily="18" charset="0"/>
                <a:cs typeface="Times New Roman" panose="02020603050405020304" pitchFamily="18" charset="0"/>
              </a:rPr>
              <a:t>intermediate representation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Same </a:t>
            </a:r>
            <a:r>
              <a:rPr lang="en-US" sz="2400" b="1" dirty="0">
                <a:latin typeface="Times New Roman" panose="02020603050405020304" pitchFamily="18" charset="0"/>
                <a:cs typeface="Times New Roman" panose="02020603050405020304" pitchFamily="18" charset="0"/>
              </a:rPr>
              <a:t>intermediate representation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work on multiple machines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Improves performance before final code generation</a:t>
            </a:r>
          </a:p>
        </p:txBody>
      </p:sp>
    </p:spTree>
    <p:extLst>
      <p:ext uri="{BB962C8B-B14F-4D97-AF65-F5344CB8AC3E}">
        <p14:creationId xmlns:p14="http://schemas.microsoft.com/office/powerpoint/2010/main" val="3604328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153E6-9631-9787-575E-5F041D59D0EE}"/>
              </a:ext>
            </a:extLst>
          </p:cNvPr>
          <p:cNvSpPr>
            <a:spLocks noGrp="1"/>
          </p:cNvSpPr>
          <p:nvPr>
            <p:ph type="title"/>
          </p:nvPr>
        </p:nvSpPr>
        <p:spPr>
          <a:xfrm>
            <a:off x="677334" y="609600"/>
            <a:ext cx="8596668" cy="715347"/>
          </a:xfrm>
        </p:spPr>
        <p:txBody>
          <a:bodyPr/>
          <a:lstStyle/>
          <a:p>
            <a:r>
              <a:rPr lang="en-US" dirty="0">
                <a:latin typeface="Times New Roman" panose="02020603050405020304" pitchFamily="18" charset="0"/>
                <a:cs typeface="Times New Roman" panose="02020603050405020304" pitchFamily="18" charset="0"/>
              </a:rPr>
              <a:t>Why Not Generate Machine Code Directly?</a:t>
            </a:r>
          </a:p>
        </p:txBody>
      </p:sp>
      <p:sp>
        <p:nvSpPr>
          <p:cNvPr id="4" name="Rectangle 1">
            <a:extLst>
              <a:ext uri="{FF2B5EF4-FFF2-40B4-BE49-F238E27FC236}">
                <a16:creationId xmlns:a16="http://schemas.microsoft.com/office/drawing/2014/main" id="{66B432DE-FD8B-8E0C-0E85-0A621A3E5C6C}"/>
              </a:ext>
            </a:extLst>
          </p:cNvPr>
          <p:cNvSpPr>
            <a:spLocks noGrp="1" noChangeArrowheads="1"/>
          </p:cNvSpPr>
          <p:nvPr>
            <p:ph idx="1"/>
          </p:nvPr>
        </p:nvSpPr>
        <p:spPr bwMode="auto">
          <a:xfrm>
            <a:off x="677334" y="1802119"/>
            <a:ext cx="7850845"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machine code is generated directly: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machines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need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compilers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 optimizers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intermediate code: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optimizer</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code generators for different machines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7766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B5F58-FD8A-6A30-D45F-51AFC15E936C}"/>
              </a:ext>
            </a:extLst>
          </p:cNvPr>
          <p:cNvSpPr>
            <a:spLocks noGrp="1"/>
          </p:cNvSpPr>
          <p:nvPr>
            <p:ph type="title"/>
          </p:nvPr>
        </p:nvSpPr>
        <p:spPr>
          <a:xfrm>
            <a:off x="677334" y="609600"/>
            <a:ext cx="8596668" cy="706016"/>
          </a:xfrm>
        </p:spPr>
        <p:txBody>
          <a:bodyPr/>
          <a:lstStyle/>
          <a:p>
            <a:r>
              <a:rPr lang="en-US" dirty="0">
                <a:latin typeface="Times New Roman" panose="02020603050405020304" pitchFamily="18" charset="0"/>
                <a:cs typeface="Times New Roman" panose="02020603050405020304" pitchFamily="18" charset="0"/>
              </a:rPr>
              <a:t>Types of Intermediate Code</a:t>
            </a:r>
          </a:p>
        </p:txBody>
      </p:sp>
      <p:sp>
        <p:nvSpPr>
          <p:cNvPr id="4" name="Rectangle 1">
            <a:extLst>
              <a:ext uri="{FF2B5EF4-FFF2-40B4-BE49-F238E27FC236}">
                <a16:creationId xmlns:a16="http://schemas.microsoft.com/office/drawing/2014/main" id="{55B476CD-6233-A0BB-5FFD-EBD9ED27D051}"/>
              </a:ext>
            </a:extLst>
          </p:cNvPr>
          <p:cNvSpPr>
            <a:spLocks noGrp="1" noChangeArrowheads="1"/>
          </p:cNvSpPr>
          <p:nvPr>
            <p:ph idx="1"/>
          </p:nvPr>
        </p:nvSpPr>
        <p:spPr bwMode="auto">
          <a:xfrm>
            <a:off x="677334" y="1646512"/>
            <a:ext cx="7123058"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Language-dependent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Bytecode</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Language-independent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Three-Address Code</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0984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FA647-0FC4-F79D-FA2D-9C1EB658A322}"/>
              </a:ext>
            </a:extLst>
          </p:cNvPr>
          <p:cNvSpPr>
            <a:spLocks noGrp="1"/>
          </p:cNvSpPr>
          <p:nvPr>
            <p:ph type="title"/>
          </p:nvPr>
        </p:nvSpPr>
        <p:spPr>
          <a:xfrm>
            <a:off x="677334" y="609600"/>
            <a:ext cx="8596668" cy="771331"/>
          </a:xfrm>
        </p:spPr>
        <p:txBody>
          <a:bodyPr/>
          <a:lstStyle/>
          <a:p>
            <a:r>
              <a:rPr lang="en-US" dirty="0">
                <a:latin typeface="Times New Roman" panose="02020603050405020304" pitchFamily="18" charset="0"/>
                <a:cs typeface="Times New Roman" panose="02020603050405020304" pitchFamily="18" charset="0"/>
              </a:rPr>
              <a:t>Common Intermediate Code Representations</a:t>
            </a:r>
          </a:p>
        </p:txBody>
      </p:sp>
      <p:sp>
        <p:nvSpPr>
          <p:cNvPr id="4" name="Rectangle 1">
            <a:extLst>
              <a:ext uri="{FF2B5EF4-FFF2-40B4-BE49-F238E27FC236}">
                <a16:creationId xmlns:a16="http://schemas.microsoft.com/office/drawing/2014/main" id="{30CF3B18-E946-AE08-103B-35BC501B4BE0}"/>
              </a:ext>
            </a:extLst>
          </p:cNvPr>
          <p:cNvSpPr>
            <a:spLocks noGrp="1" noChangeArrowheads="1"/>
          </p:cNvSpPr>
          <p:nvPr>
            <p:ph idx="1"/>
          </p:nvPr>
        </p:nvSpPr>
        <p:spPr bwMode="auto">
          <a:xfrm>
            <a:off x="951721" y="1767999"/>
            <a:ext cx="717524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Postfix Notation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Three Address Code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Syntax Tree</a:t>
            </a:r>
          </a:p>
        </p:txBody>
      </p:sp>
    </p:spTree>
    <p:extLst>
      <p:ext uri="{BB962C8B-B14F-4D97-AF65-F5344CB8AC3E}">
        <p14:creationId xmlns:p14="http://schemas.microsoft.com/office/powerpoint/2010/main" val="1808083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A4C5E-63D8-F8AB-B46D-E1CF30912A67}"/>
              </a:ext>
            </a:extLst>
          </p:cNvPr>
          <p:cNvSpPr>
            <a:spLocks noGrp="1"/>
          </p:cNvSpPr>
          <p:nvPr>
            <p:ph type="title"/>
          </p:nvPr>
        </p:nvSpPr>
        <p:spPr>
          <a:xfrm>
            <a:off x="677334" y="233265"/>
            <a:ext cx="8596668" cy="1697135"/>
          </a:xfrm>
        </p:spPr>
        <p:txBody>
          <a:bodyPr/>
          <a:lstStyle/>
          <a:p>
            <a:r>
              <a:rPr lang="en-US" dirty="0">
                <a:latin typeface="Times New Roman" panose="02020603050405020304" pitchFamily="18" charset="0"/>
                <a:cs typeface="Times New Roman" panose="02020603050405020304" pitchFamily="18" charset="0"/>
              </a:rPr>
              <a:t>Postfix Notation</a:t>
            </a:r>
          </a:p>
        </p:txBody>
      </p:sp>
      <p:sp>
        <p:nvSpPr>
          <p:cNvPr id="4" name="Rectangle 1">
            <a:extLst>
              <a:ext uri="{FF2B5EF4-FFF2-40B4-BE49-F238E27FC236}">
                <a16:creationId xmlns:a16="http://schemas.microsoft.com/office/drawing/2014/main" id="{CA399DF1-E563-6EA7-ABCE-90C4543AFDE9}"/>
              </a:ext>
            </a:extLst>
          </p:cNvPr>
          <p:cNvSpPr>
            <a:spLocks noGrp="1" noChangeArrowheads="1"/>
          </p:cNvSpPr>
          <p:nvPr>
            <p:ph idx="1"/>
          </p:nvPr>
        </p:nvSpPr>
        <p:spPr bwMode="auto">
          <a:xfrm>
            <a:off x="391885" y="1200598"/>
            <a:ext cx="9591869" cy="468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Also known as reverse Polish notation or suffix notation.</a:t>
            </a:r>
          </a:p>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In the infix notation, the operator is placed between operands, e.g., </a:t>
            </a:r>
            <a:r>
              <a:rPr lang="en-US" b="0" i="1" dirty="0">
                <a:solidFill>
                  <a:srgbClr val="273239"/>
                </a:solidFill>
                <a:effectLst/>
                <a:latin typeface="Times New Roman" panose="02020603050405020304" pitchFamily="18" charset="0"/>
                <a:cs typeface="Times New Roman" panose="02020603050405020304" pitchFamily="18" charset="0"/>
              </a:rPr>
              <a:t>a + b.</a:t>
            </a:r>
            <a:r>
              <a:rPr lang="en-US" b="0" i="1" dirty="0">
                <a:solidFill>
                  <a:schemeClr val="tx1"/>
                </a:solidFill>
                <a:effectLst/>
                <a:latin typeface="Times New Roman" panose="02020603050405020304" pitchFamily="18" charset="0"/>
                <a:cs typeface="Times New Roman" panose="02020603050405020304" pitchFamily="18" charset="0"/>
              </a:rPr>
              <a:t> </a:t>
            </a:r>
            <a:r>
              <a:rPr lang="en-US" b="0" i="0" u="sng"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Postfix notation</a:t>
            </a:r>
            <a:r>
              <a:rPr lang="en-US" b="0" i="0" dirty="0">
                <a:solidFill>
                  <a:schemeClr val="tx1"/>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positions the operator at the right end as in </a:t>
            </a:r>
            <a:r>
              <a:rPr lang="en-US" b="0" i="1" dirty="0">
                <a:solidFill>
                  <a:srgbClr val="273239"/>
                </a:solidFill>
                <a:effectLst/>
                <a:latin typeface="Times New Roman" panose="02020603050405020304" pitchFamily="18" charset="0"/>
                <a:cs typeface="Times New Roman" panose="02020603050405020304" pitchFamily="18" charset="0"/>
              </a:rPr>
              <a:t>ab +</a:t>
            </a:r>
            <a:r>
              <a:rPr lang="en-US" b="0" i="0" dirty="0">
                <a:solidFill>
                  <a:srgbClr val="273239"/>
                </a:solidFill>
                <a:effectLst/>
                <a:latin typeface="Times New Roman" panose="02020603050405020304" pitchFamily="18" charset="0"/>
                <a:cs typeface="Times New Roman" panose="02020603050405020304" pitchFamily="18" charset="0"/>
              </a:rPr>
              <a:t>.</a:t>
            </a:r>
          </a:p>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For any postfix expressions </a:t>
            </a:r>
            <a:r>
              <a:rPr lang="en-US" b="0" i="1" dirty="0">
                <a:solidFill>
                  <a:srgbClr val="273239"/>
                </a:solidFill>
                <a:effectLst/>
                <a:latin typeface="Times New Roman" panose="02020603050405020304" pitchFamily="18" charset="0"/>
                <a:cs typeface="Times New Roman" panose="02020603050405020304" pitchFamily="18" charset="0"/>
              </a:rPr>
              <a:t>e1</a:t>
            </a:r>
            <a:r>
              <a:rPr lang="en-US" b="0" i="0" dirty="0">
                <a:solidFill>
                  <a:srgbClr val="273239"/>
                </a:solidFill>
                <a:effectLst/>
                <a:latin typeface="Times New Roman" panose="02020603050405020304" pitchFamily="18" charset="0"/>
                <a:cs typeface="Times New Roman" panose="02020603050405020304" pitchFamily="18" charset="0"/>
              </a:rPr>
              <a:t> and </a:t>
            </a:r>
            <a:r>
              <a:rPr lang="en-US" b="0" i="1" dirty="0">
                <a:solidFill>
                  <a:srgbClr val="273239"/>
                </a:solidFill>
                <a:effectLst/>
                <a:latin typeface="Times New Roman" panose="02020603050405020304" pitchFamily="18" charset="0"/>
                <a:cs typeface="Times New Roman" panose="02020603050405020304" pitchFamily="18" charset="0"/>
              </a:rPr>
              <a:t>e2 </a:t>
            </a:r>
            <a:r>
              <a:rPr lang="en-US" b="0" i="0" dirty="0">
                <a:solidFill>
                  <a:srgbClr val="273239"/>
                </a:solidFill>
                <a:effectLst/>
                <a:latin typeface="Times New Roman" panose="02020603050405020304" pitchFamily="18" charset="0"/>
                <a:cs typeface="Times New Roman" panose="02020603050405020304" pitchFamily="18" charset="0"/>
              </a:rPr>
              <a:t>with a binary operator </a:t>
            </a:r>
            <a:r>
              <a:rPr lang="en-US" b="0" i="1" dirty="0">
                <a:solidFill>
                  <a:srgbClr val="273239"/>
                </a:solidFill>
                <a:effectLst/>
                <a:latin typeface="Times New Roman" panose="02020603050405020304" pitchFamily="18" charset="0"/>
                <a:cs typeface="Times New Roman" panose="02020603050405020304" pitchFamily="18" charset="0"/>
              </a:rPr>
              <a:t>(+) , </a:t>
            </a:r>
            <a:r>
              <a:rPr lang="en-US" b="0" i="0" dirty="0">
                <a:solidFill>
                  <a:srgbClr val="273239"/>
                </a:solidFill>
                <a:effectLst/>
                <a:latin typeface="Times New Roman" panose="02020603050405020304" pitchFamily="18" charset="0"/>
                <a:cs typeface="Times New Roman" panose="02020603050405020304" pitchFamily="18" charset="0"/>
              </a:rPr>
              <a:t>applying the operator yields </a:t>
            </a:r>
            <a:r>
              <a:rPr lang="en-US" b="0" i="1" dirty="0">
                <a:solidFill>
                  <a:srgbClr val="273239"/>
                </a:solidFill>
                <a:effectLst/>
                <a:latin typeface="Times New Roman" panose="02020603050405020304" pitchFamily="18" charset="0"/>
                <a:cs typeface="Times New Roman" panose="02020603050405020304" pitchFamily="18" charset="0"/>
              </a:rPr>
              <a:t>e1e2+.</a:t>
            </a:r>
            <a:endParaRPr lang="en-US"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Postfix notation eliminates the need for parentheses, as the operator's position and arity allow unambiguous expression decoding.</a:t>
            </a:r>
          </a:p>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In postfix notation, the operator consistently follows the operand.</a:t>
            </a:r>
          </a:p>
          <a:p>
            <a:pPr marL="0" indent="0" algn="l" fontAlgn="base">
              <a:buNone/>
            </a:pP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0" i="0" dirty="0">
                <a:solidFill>
                  <a:srgbClr val="273239"/>
                </a:solidFill>
                <a:effectLst/>
                <a:latin typeface="Times New Roman" panose="02020603050405020304" pitchFamily="18" charset="0"/>
                <a:cs typeface="Times New Roman" panose="02020603050405020304" pitchFamily="18" charset="0"/>
              </a:rPr>
              <a:t>Example 1: The postfix representation of the expression (a + b) * c is : ab + c *</a:t>
            </a:r>
          </a:p>
          <a:p>
            <a:pPr marL="0" indent="0" algn="l" fontAlgn="base">
              <a:buNone/>
            </a:pPr>
            <a:r>
              <a:rPr lang="en-US" i="0" dirty="0">
                <a:solidFill>
                  <a:srgbClr val="273239"/>
                </a:solidFill>
                <a:effectLst/>
                <a:latin typeface="Times New Roman" panose="02020603050405020304" pitchFamily="18" charset="0"/>
                <a:cs typeface="Times New Roman" panose="02020603050405020304" pitchFamily="18" charset="0"/>
              </a:rPr>
              <a:t>Example 2</a:t>
            </a:r>
            <a:r>
              <a:rPr lang="en-US" b="1" i="0" dirty="0">
                <a:solidFill>
                  <a:srgbClr val="273239"/>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The postfix representation of the expression (a - b) * (c + d) + (a - b) is :   ab - cd + *ab -+</a:t>
            </a:r>
          </a:p>
          <a:p>
            <a:pPr marL="0" indent="0" algn="l" fontAlgn="base">
              <a:buNone/>
            </a:pPr>
            <a:endParaRPr lang="en-US" b="0" i="0" dirty="0">
              <a:solidFill>
                <a:srgbClr val="273239"/>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3158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8EC2-E6BD-BAA2-3D01-EDFF65E2519D}"/>
              </a:ext>
            </a:extLst>
          </p:cNvPr>
          <p:cNvSpPr>
            <a:spLocks noGrp="1"/>
          </p:cNvSpPr>
          <p:nvPr>
            <p:ph type="title"/>
          </p:nvPr>
        </p:nvSpPr>
        <p:spPr>
          <a:xfrm>
            <a:off x="677334" y="609600"/>
            <a:ext cx="8596668" cy="678024"/>
          </a:xfrm>
        </p:spPr>
        <p:txBody>
          <a:bodyPr/>
          <a:lstStyle/>
          <a:p>
            <a:r>
              <a:rPr lang="en-US" dirty="0">
                <a:latin typeface="Times New Roman" panose="02020603050405020304" pitchFamily="18" charset="0"/>
                <a:cs typeface="Times New Roman" panose="02020603050405020304" pitchFamily="18" charset="0"/>
              </a:rPr>
              <a:t>Three-Address Code (TAC)</a:t>
            </a:r>
          </a:p>
        </p:txBody>
      </p:sp>
      <p:sp>
        <p:nvSpPr>
          <p:cNvPr id="3" name="Content Placeholder 2">
            <a:extLst>
              <a:ext uri="{FF2B5EF4-FFF2-40B4-BE49-F238E27FC236}">
                <a16:creationId xmlns:a16="http://schemas.microsoft.com/office/drawing/2014/main" id="{C10D61CD-4085-92C7-C2AA-A707CACD4909}"/>
              </a:ext>
            </a:extLst>
          </p:cNvPr>
          <p:cNvSpPr>
            <a:spLocks noGrp="1"/>
          </p:cNvSpPr>
          <p:nvPr>
            <p:ph idx="1"/>
          </p:nvPr>
        </p:nvSpPr>
        <p:spPr>
          <a:xfrm>
            <a:off x="677334" y="1352939"/>
            <a:ext cx="8596668" cy="4688424"/>
          </a:xfrm>
        </p:spPr>
        <p:txBody>
          <a:bodyPr/>
          <a:lstStyle/>
          <a:p>
            <a:r>
              <a:rPr lang="en-US" dirty="0">
                <a:latin typeface="Times New Roman" panose="02020603050405020304" pitchFamily="18" charset="0"/>
                <a:cs typeface="Times New Roman" panose="02020603050405020304" pitchFamily="18" charset="0"/>
              </a:rPr>
              <a:t>A three address statement involves a maximum of three references, consisting of two for operands and one for the result.</a:t>
            </a:r>
          </a:p>
          <a:p>
            <a:r>
              <a:rPr lang="en-US" dirty="0">
                <a:latin typeface="Times New Roman" panose="02020603050405020304" pitchFamily="18" charset="0"/>
                <a:cs typeface="Times New Roman" panose="02020603050405020304" pitchFamily="18" charset="0"/>
              </a:rPr>
              <a:t>A sequence of three address statements collectively forms a three address code.</a:t>
            </a:r>
          </a:p>
          <a:p>
            <a:r>
              <a:rPr lang="en-US" dirty="0">
                <a:latin typeface="Times New Roman" panose="02020603050405020304" pitchFamily="18" charset="0"/>
                <a:cs typeface="Times New Roman" panose="02020603050405020304" pitchFamily="18" charset="0"/>
              </a:rPr>
              <a:t>The typical form of a three address statement is expressed as x = y op z, where x, y, and z represent memory addresses.</a:t>
            </a:r>
          </a:p>
          <a:p>
            <a:r>
              <a:rPr lang="en-US" dirty="0">
                <a:latin typeface="Times New Roman" panose="02020603050405020304" pitchFamily="18" charset="0"/>
                <a:cs typeface="Times New Roman" panose="02020603050405020304" pitchFamily="18" charset="0"/>
              </a:rPr>
              <a:t>Each variable (x, y, z) in a three address statement is associated with a specific memory location</a:t>
            </a:r>
          </a:p>
          <a:p>
            <a:pPr marL="0" indent="0">
              <a:buNone/>
            </a:pPr>
            <a:r>
              <a:rPr lang="en-US" dirty="0">
                <a:latin typeface="Times New Roman" panose="02020603050405020304" pitchFamily="18" charset="0"/>
                <a:cs typeface="Times New Roman" panose="02020603050405020304" pitchFamily="18" charset="0"/>
              </a:rPr>
              <a:t>Example: The three address code for the expression a + b * c + d : T1 = b * c T2 = a + T1 T3 = T2 + d; T 1 , T2 , T3 are temporary variables.</a:t>
            </a:r>
          </a:p>
        </p:txBody>
      </p:sp>
    </p:spTree>
    <p:extLst>
      <p:ext uri="{BB962C8B-B14F-4D97-AF65-F5344CB8AC3E}">
        <p14:creationId xmlns:p14="http://schemas.microsoft.com/office/powerpoint/2010/main" val="2039111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FF94-E1CA-B26F-4C2B-E277A0259375}"/>
              </a:ext>
            </a:extLst>
          </p:cNvPr>
          <p:cNvSpPr>
            <a:spLocks noGrp="1"/>
          </p:cNvSpPr>
          <p:nvPr>
            <p:ph type="title"/>
          </p:nvPr>
        </p:nvSpPr>
        <p:spPr>
          <a:xfrm>
            <a:off x="677333" y="609600"/>
            <a:ext cx="8821229" cy="1320800"/>
          </a:xfrm>
        </p:spPr>
        <p:txBody>
          <a:bodyPr/>
          <a:lstStyle/>
          <a:p>
            <a:r>
              <a:rPr lang="en-US" b="0" i="0" dirty="0">
                <a:effectLst/>
                <a:latin typeface="Times New Roman" panose="02020603050405020304" pitchFamily="18" charset="0"/>
                <a:cs typeface="Times New Roman" panose="02020603050405020304" pitchFamily="18" charset="0"/>
              </a:rPr>
              <a:t>There are 3 ways to represent a Three Address Code in compiler design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818A85-CDC1-D2F5-01A1-E0C006385F01}"/>
              </a:ext>
            </a:extLst>
          </p:cNvPr>
          <p:cNvSpPr>
            <a:spLocks noGrp="1"/>
          </p:cNvSpPr>
          <p:nvPr>
            <p:ph idx="1"/>
          </p:nvPr>
        </p:nvSpPr>
        <p:spPr/>
        <p:txBody>
          <a:bodyPr>
            <a:normAutofit/>
          </a:bodyPr>
          <a:lstStyle/>
          <a:p>
            <a:pPr marL="0" indent="0">
              <a:buNone/>
            </a:pPr>
            <a:r>
              <a:rPr lang="en-US" sz="3600" b="0" i="0" dirty="0">
                <a:solidFill>
                  <a:srgbClr val="273239"/>
                </a:solidFill>
                <a:effectLst/>
                <a:latin typeface="Times New Roman" panose="02020603050405020304" pitchFamily="18" charset="0"/>
                <a:cs typeface="Times New Roman" panose="02020603050405020304" pitchFamily="18" charset="0"/>
              </a:rPr>
              <a:t>1.Quadruples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2.</a:t>
            </a:r>
            <a:r>
              <a:rPr lang="en-US" sz="3600" b="0" i="0" dirty="0">
                <a:solidFill>
                  <a:srgbClr val="273239"/>
                </a:solidFill>
                <a:effectLst/>
                <a:latin typeface="Times New Roman" panose="02020603050405020304" pitchFamily="18" charset="0"/>
                <a:cs typeface="Times New Roman" panose="02020603050405020304" pitchFamily="18" charset="0"/>
              </a:rPr>
              <a:t>Triples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3.</a:t>
            </a:r>
            <a:r>
              <a:rPr lang="en-US" sz="3600" b="0" i="0" dirty="0">
                <a:solidFill>
                  <a:srgbClr val="273239"/>
                </a:solidFill>
                <a:effectLst/>
                <a:latin typeface="Times New Roman" panose="02020603050405020304" pitchFamily="18" charset="0"/>
                <a:cs typeface="Times New Roman" panose="02020603050405020304" pitchFamily="18" charset="0"/>
              </a:rPr>
              <a:t>Indirect  Triples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712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36FE-19C6-9C2E-AC91-509D22776E9F}"/>
              </a:ext>
            </a:extLst>
          </p:cNvPr>
          <p:cNvSpPr>
            <a:spLocks noGrp="1"/>
          </p:cNvSpPr>
          <p:nvPr>
            <p:ph type="title"/>
          </p:nvPr>
        </p:nvSpPr>
        <p:spPr>
          <a:xfrm>
            <a:off x="677334" y="609600"/>
            <a:ext cx="8596668" cy="845976"/>
          </a:xfrm>
        </p:spPr>
        <p:txBody>
          <a:bodyPr>
            <a:normAutofit fontScale="90000"/>
          </a:bodyPr>
          <a:lstStyle/>
          <a:p>
            <a:r>
              <a:rPr lang="en-US" b="1" i="0" dirty="0">
                <a:effectLst/>
                <a:latin typeface="Times New Roman" panose="02020603050405020304" pitchFamily="18" charset="0"/>
                <a:cs typeface="Times New Roman" panose="02020603050405020304" pitchFamily="18" charset="0"/>
              </a:rPr>
              <a:t>Syntax Tree</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724D7366-F4D2-A4A1-24A5-3AB5BF664EA2}"/>
              </a:ext>
            </a:extLst>
          </p:cNvPr>
          <p:cNvSpPr>
            <a:spLocks noGrp="1"/>
          </p:cNvSpPr>
          <p:nvPr>
            <p:ph idx="1"/>
          </p:nvPr>
        </p:nvSpPr>
        <p:spPr>
          <a:xfrm>
            <a:off x="677334" y="1231641"/>
            <a:ext cx="8596668" cy="4809721"/>
          </a:xfrm>
        </p:spPr>
        <p:txBody>
          <a:bodyPr/>
          <a:lstStyle/>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A syntax tree serves as a condensed representation of a parse tree.</a:t>
            </a:r>
          </a:p>
          <a:p>
            <a:pPr algn="l"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The operator and keyword nodes present in the parse tree undergo a relocation process to become part of their respective parent nodes in the syntax tree. the internal nodes are operators and child nodes are operands.</a:t>
            </a:r>
          </a:p>
          <a:p>
            <a:pPr fontAlgn="base">
              <a:buFont typeface="Wingdings" panose="05000000000000000000" pitchFamily="2" charset="2"/>
              <a:buChar char="q"/>
            </a:pPr>
            <a:r>
              <a:rPr lang="en-US" b="0" i="0" dirty="0">
                <a:solidFill>
                  <a:srgbClr val="273239"/>
                </a:solidFill>
                <a:effectLst/>
                <a:latin typeface="Times New Roman" panose="02020603050405020304" pitchFamily="18" charset="0"/>
                <a:cs typeface="Times New Roman" panose="02020603050405020304" pitchFamily="18" charset="0"/>
              </a:rPr>
              <a:t>Creating a </a:t>
            </a:r>
            <a:r>
              <a:rPr lang="en-US" b="0" i="0"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syntax tree</a:t>
            </a:r>
            <a:r>
              <a:rPr lang="en-US" b="0" i="0" dirty="0">
                <a:solidFill>
                  <a:schemeClr val="tx1"/>
                </a:solidFill>
                <a:effectLst/>
                <a:latin typeface="Times New Roman" panose="02020603050405020304" pitchFamily="18" charset="0"/>
                <a:cs typeface="Times New Roman" panose="02020603050405020304" pitchFamily="18" charset="0"/>
              </a:rPr>
              <a:t> </a:t>
            </a:r>
            <a:r>
              <a:rPr lang="en-US" b="0" i="0" dirty="0">
                <a:solidFill>
                  <a:srgbClr val="273239"/>
                </a:solidFill>
                <a:effectLst/>
                <a:latin typeface="Times New Roman" panose="02020603050405020304" pitchFamily="18" charset="0"/>
                <a:cs typeface="Times New Roman" panose="02020603050405020304" pitchFamily="18" charset="0"/>
              </a:rPr>
              <a:t>involves strategically placing parentheses within the expression. This technique contributes to a more intuitive representation, making it easier to discern the sequence in which operands should be processed.</a:t>
            </a:r>
          </a:p>
          <a:p>
            <a:pPr marL="0" indent="0">
              <a:buNone/>
            </a:pPr>
            <a:r>
              <a:rPr lang="en-US" sz="2000" b="0" i="0" dirty="0">
                <a:solidFill>
                  <a:srgbClr val="273239"/>
                </a:solidFill>
                <a:effectLst/>
                <a:latin typeface="Times New Roman" panose="02020603050405020304" pitchFamily="18" charset="0"/>
                <a:cs typeface="Times New Roman" panose="02020603050405020304" pitchFamily="18" charset="0"/>
              </a:rPr>
              <a:t>The syntax tree not only condenses the </a:t>
            </a:r>
            <a:r>
              <a:rPr lang="en-US" sz="2000" b="0" i="0" u="sng"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parse tree</a:t>
            </a:r>
            <a:r>
              <a:rPr lang="en-US" sz="2000" b="0" i="0" dirty="0">
                <a:solidFill>
                  <a:schemeClr val="tx1"/>
                </a:solidFill>
                <a:effectLst/>
                <a:latin typeface="Times New Roman" panose="02020603050405020304" pitchFamily="18" charset="0"/>
                <a:cs typeface="Times New Roman" panose="02020603050405020304" pitchFamily="18" charset="0"/>
              </a:rPr>
              <a:t> </a:t>
            </a:r>
            <a:r>
              <a:rPr lang="en-US" sz="2000" b="0" i="0" dirty="0">
                <a:solidFill>
                  <a:srgbClr val="273239"/>
                </a:solidFill>
                <a:effectLst/>
                <a:latin typeface="Times New Roman" panose="02020603050405020304" pitchFamily="18" charset="0"/>
                <a:cs typeface="Times New Roman" panose="02020603050405020304" pitchFamily="18" charset="0"/>
              </a:rPr>
              <a:t>but also offers an improved visual representation of the program's syntactic structure,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475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C2E39-0DA0-F60B-FC6B-2ADDE559BAB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Example of </a:t>
            </a:r>
            <a:r>
              <a:rPr lang="en-US" b="1" i="0" dirty="0">
                <a:effectLst/>
                <a:latin typeface="Times New Roman" panose="02020603050405020304" pitchFamily="18" charset="0"/>
                <a:cs typeface="Times New Roman" panose="02020603050405020304" pitchFamily="18" charset="0"/>
              </a:rPr>
              <a:t>Syntax Tree</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90140694-D0F3-AB71-9FA7-57F6A27DE5A6}"/>
              </a:ext>
            </a:extLst>
          </p:cNvPr>
          <p:cNvSpPr>
            <a:spLocks noGrp="1"/>
          </p:cNvSpPr>
          <p:nvPr>
            <p:ph idx="1"/>
          </p:nvPr>
        </p:nvSpPr>
        <p:spPr>
          <a:xfrm>
            <a:off x="677334" y="1446245"/>
            <a:ext cx="8596668" cy="4595117"/>
          </a:xfrm>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Example:</a:t>
            </a:r>
            <a:r>
              <a:rPr lang="en-US" b="0" i="0" dirty="0">
                <a:solidFill>
                  <a:srgbClr val="273239"/>
                </a:solidFill>
                <a:effectLst/>
                <a:latin typeface="Times New Roman" panose="02020603050405020304" pitchFamily="18" charset="0"/>
                <a:cs typeface="Times New Roman" panose="02020603050405020304" pitchFamily="18" charset="0"/>
              </a:rPr>
              <a:t> x = (a + b * c) / (a - b * c)</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descr="A screenshot of a game&#10;&#10;AI-generated content may be incorrect.">
            <a:extLst>
              <a:ext uri="{FF2B5EF4-FFF2-40B4-BE49-F238E27FC236}">
                <a16:creationId xmlns:a16="http://schemas.microsoft.com/office/drawing/2014/main" id="{26E776D9-ABFA-61F0-05F0-DD199283B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264" y="1610420"/>
            <a:ext cx="9410602" cy="4967662"/>
          </a:xfrm>
          <a:prstGeom prst="rect">
            <a:avLst/>
          </a:prstGeom>
        </p:spPr>
      </p:pic>
    </p:spTree>
    <p:extLst>
      <p:ext uri="{BB962C8B-B14F-4D97-AF65-F5344CB8AC3E}">
        <p14:creationId xmlns:p14="http://schemas.microsoft.com/office/powerpoint/2010/main" val="4217526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4D66B-DAC4-8974-F1E9-027E98267D97}"/>
              </a:ext>
            </a:extLst>
          </p:cNvPr>
          <p:cNvSpPr>
            <a:spLocks noGrp="1"/>
          </p:cNvSpPr>
          <p:nvPr>
            <p:ph type="title"/>
          </p:nvPr>
        </p:nvSpPr>
        <p:spPr>
          <a:xfrm>
            <a:off x="677334" y="609600"/>
            <a:ext cx="8596668" cy="715347"/>
          </a:xfrm>
        </p:spPr>
        <p:txBody>
          <a:bodyPr/>
          <a:lstStyle/>
          <a:p>
            <a:r>
              <a:rPr lang="en-US" dirty="0">
                <a:latin typeface="Times New Roman" panose="02020603050405020304" pitchFamily="18" charset="0"/>
                <a:cs typeface="Times New Roman" panose="02020603050405020304" pitchFamily="18" charset="0"/>
              </a:rPr>
              <a:t>Advantages</a:t>
            </a:r>
          </a:p>
        </p:txBody>
      </p:sp>
      <p:sp>
        <p:nvSpPr>
          <p:cNvPr id="4" name="Rectangle 1">
            <a:extLst>
              <a:ext uri="{FF2B5EF4-FFF2-40B4-BE49-F238E27FC236}">
                <a16:creationId xmlns:a16="http://schemas.microsoft.com/office/drawing/2014/main" id="{8EF18A8F-98D2-E21B-4814-F7C1A041C668}"/>
              </a:ext>
            </a:extLst>
          </p:cNvPr>
          <p:cNvSpPr>
            <a:spLocks noGrp="1" noChangeArrowheads="1"/>
          </p:cNvSpPr>
          <p:nvPr>
            <p:ph idx="1"/>
          </p:nvPr>
        </p:nvSpPr>
        <p:spPr bwMode="auto">
          <a:xfrm>
            <a:off x="1119673" y="1679107"/>
            <a:ext cx="585029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Easier to implement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Facilitates code optimization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Platform independent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Code reuse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Easier debugging</a:t>
            </a:r>
          </a:p>
        </p:txBody>
      </p:sp>
    </p:spTree>
    <p:extLst>
      <p:ext uri="{BB962C8B-B14F-4D97-AF65-F5344CB8AC3E}">
        <p14:creationId xmlns:p14="http://schemas.microsoft.com/office/powerpoint/2010/main" val="3618237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99BC8-7C65-C45F-3606-664D576245C4}"/>
              </a:ext>
            </a:extLst>
          </p:cNvPr>
          <p:cNvSpPr>
            <a:spLocks noGrp="1"/>
          </p:cNvSpPr>
          <p:nvPr>
            <p:ph type="title"/>
          </p:nvPr>
        </p:nvSpPr>
        <p:spPr>
          <a:xfrm>
            <a:off x="677334" y="609600"/>
            <a:ext cx="8596668" cy="1153886"/>
          </a:xfrm>
        </p:spPr>
        <p:txBody>
          <a:bodyPr>
            <a:normAutofit/>
          </a:bodyPr>
          <a:lstStyle/>
          <a:p>
            <a:r>
              <a:rPr lang="en-US" dirty="0">
                <a:latin typeface="Times New Roman" panose="02020603050405020304" pitchFamily="18" charset="0"/>
                <a:cs typeface="Times New Roman" panose="02020603050405020304" pitchFamily="18" charset="0"/>
              </a:rPr>
              <a:t>Disadvantages</a:t>
            </a:r>
          </a:p>
        </p:txBody>
      </p:sp>
      <p:sp>
        <p:nvSpPr>
          <p:cNvPr id="4" name="Rectangle 1">
            <a:extLst>
              <a:ext uri="{FF2B5EF4-FFF2-40B4-BE49-F238E27FC236}">
                <a16:creationId xmlns:a16="http://schemas.microsoft.com/office/drawing/2014/main" id="{FF6C41D7-4C67-85E4-4CAD-79DA67516B35}"/>
              </a:ext>
            </a:extLst>
          </p:cNvPr>
          <p:cNvSpPr>
            <a:spLocks noGrp="1" noChangeArrowheads="1"/>
          </p:cNvSpPr>
          <p:nvPr>
            <p:ph idx="1"/>
          </p:nvPr>
        </p:nvSpPr>
        <p:spPr bwMode="auto">
          <a:xfrm>
            <a:off x="849085" y="1714465"/>
            <a:ext cx="663406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Increased compilation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Additional memory usage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Increased compiler complexity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Slight performance overhead</a:t>
            </a:r>
          </a:p>
        </p:txBody>
      </p:sp>
    </p:spTree>
    <p:extLst>
      <p:ext uri="{BB962C8B-B14F-4D97-AF65-F5344CB8AC3E}">
        <p14:creationId xmlns:p14="http://schemas.microsoft.com/office/powerpoint/2010/main" val="4164228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FA646-F541-4CFA-43DE-094E3E2D75B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US" dirty="0"/>
          </a:p>
        </p:txBody>
      </p:sp>
      <p:sp>
        <p:nvSpPr>
          <p:cNvPr id="3" name="Content Placeholder 2">
            <a:extLst>
              <a:ext uri="{FF2B5EF4-FFF2-40B4-BE49-F238E27FC236}">
                <a16:creationId xmlns:a16="http://schemas.microsoft.com/office/drawing/2014/main" id="{27646EAE-D4CD-DC8D-0697-85802C205A00}"/>
              </a:ext>
            </a:extLst>
          </p:cNvPr>
          <p:cNvSpPr>
            <a:spLocks noGrp="1"/>
          </p:cNvSpPr>
          <p:nvPr>
            <p:ph idx="1"/>
          </p:nvPr>
        </p:nvSpPr>
        <p:spPr>
          <a:xfrm>
            <a:off x="677334" y="1567543"/>
            <a:ext cx="8596668" cy="4473819"/>
          </a:xfrm>
        </p:spPr>
        <p:txBody>
          <a:bodyPr>
            <a:normAutofit/>
          </a:bodyPr>
          <a:lstStyle/>
          <a:p>
            <a:pPr algn="just"/>
            <a:r>
              <a:rPr lang="en-US" sz="2000" b="0" i="0" dirty="0">
                <a:solidFill>
                  <a:srgbClr val="273239"/>
                </a:solidFill>
                <a:effectLst/>
                <a:latin typeface="Times New Roman" panose="02020603050405020304" pitchFamily="18" charset="0"/>
                <a:cs typeface="Times New Roman" panose="02020603050405020304" pitchFamily="18" charset="0"/>
              </a:rPr>
              <a:t>Intermediate Code Generation is a important step in compiler design that simplifies the translation of </a:t>
            </a:r>
            <a:r>
              <a:rPr lang="en-US" sz="2000" b="0" i="0" dirty="0">
                <a:solidFill>
                  <a:schemeClr val="tx2"/>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high level programming languages</a:t>
            </a:r>
            <a:r>
              <a:rPr lang="en-US" sz="2000" b="0" i="0" dirty="0">
                <a:solidFill>
                  <a:schemeClr val="tx2"/>
                </a:solidFill>
                <a:effectLst/>
                <a:latin typeface="Times New Roman" panose="02020603050405020304" pitchFamily="18" charset="0"/>
                <a:cs typeface="Times New Roman" panose="02020603050405020304" pitchFamily="18" charset="0"/>
              </a:rPr>
              <a:t> </a:t>
            </a:r>
            <a:r>
              <a:rPr lang="en-US" sz="2000" b="0" i="0" dirty="0">
                <a:solidFill>
                  <a:srgbClr val="273239"/>
                </a:solidFill>
                <a:effectLst/>
                <a:latin typeface="Times New Roman" panose="02020603050405020304" pitchFamily="18" charset="0"/>
                <a:cs typeface="Times New Roman" panose="02020603050405020304" pitchFamily="18" charset="0"/>
              </a:rPr>
              <a:t>into </a:t>
            </a:r>
            <a:r>
              <a:rPr lang="en-US" sz="2000" b="0" i="0" dirty="0">
                <a:solidFill>
                  <a:schemeClr val="tx2"/>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machine</a:t>
            </a:r>
            <a:r>
              <a:rPr lang="en-US" sz="2000" b="0" i="0" u="sng" dirty="0">
                <a:solidFill>
                  <a:srgbClr val="99CA3C"/>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 </a:t>
            </a:r>
            <a:r>
              <a:rPr lang="en-US" sz="2000" b="0" i="0" dirty="0">
                <a:solidFill>
                  <a:schemeClr val="tx2"/>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code</a:t>
            </a:r>
            <a:r>
              <a:rPr lang="en-US" sz="2000" b="0" i="0" dirty="0">
                <a:solidFill>
                  <a:srgbClr val="273239"/>
                </a:solidFill>
                <a:effectLst/>
                <a:latin typeface="Times New Roman" panose="02020603050405020304" pitchFamily="18" charset="0"/>
                <a:cs typeface="Times New Roman" panose="02020603050405020304" pitchFamily="18" charset="0"/>
              </a:rPr>
              <a:t>. By creating an intermediate representation compilers can analyze and optimize code more effectively ensuring that programs run efficiently on various hardware. This approach enhances portability and allows for improvements in performance. Overall Intermediate Code Generation plays a key role in making programming easier and more efficient for developers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959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50E5-030D-8791-EF4C-68D29BACD12D}"/>
              </a:ext>
            </a:extLst>
          </p:cNvPr>
          <p:cNvSpPr>
            <a:spLocks noGrp="1"/>
          </p:cNvSpPr>
          <p:nvPr>
            <p:ph type="title"/>
          </p:nvPr>
        </p:nvSpPr>
        <p:spPr>
          <a:xfrm>
            <a:off x="677334" y="609600"/>
            <a:ext cx="8596668" cy="911290"/>
          </a:xfrm>
        </p:spPr>
        <p:txBody>
          <a:bodyPr>
            <a:normAutofit/>
          </a:bodyPr>
          <a:lstStyle/>
          <a:p>
            <a:r>
              <a:rPr lang="en-US" sz="4400"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C11D6720-6D22-DA1C-69C4-AF6B68871997}"/>
              </a:ext>
            </a:extLst>
          </p:cNvPr>
          <p:cNvSpPr>
            <a:spLocks noGrp="1" noChangeArrowheads="1"/>
          </p:cNvSpPr>
          <p:nvPr>
            <p:ph idx="1"/>
          </p:nvPr>
        </p:nvSpPr>
        <p:spPr bwMode="auto">
          <a:xfrm>
            <a:off x="677334" y="1455608"/>
            <a:ext cx="871859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Aho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Lam, Sethi Ullman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Compilers: Principles, Techniques, and Tools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GeeksforGeeks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Intermediate Code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Compiler Design Lecture Notes</a:t>
            </a:r>
          </a:p>
        </p:txBody>
      </p:sp>
    </p:spTree>
    <p:extLst>
      <p:ext uri="{BB962C8B-B14F-4D97-AF65-F5344CB8AC3E}">
        <p14:creationId xmlns:p14="http://schemas.microsoft.com/office/powerpoint/2010/main" val="16833802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103</TotalTime>
  <Words>891</Words>
  <Application>Microsoft Office PowerPoint</Application>
  <PresentationFormat>Widescreen</PresentationFormat>
  <Paragraphs>97</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Nunito</vt:lpstr>
      <vt:lpstr>Times New Roman</vt:lpstr>
      <vt:lpstr>Trebuchet MS</vt:lpstr>
      <vt:lpstr>Wingdings</vt:lpstr>
      <vt:lpstr>Wingdings 3</vt:lpstr>
      <vt:lpstr>Facet</vt:lpstr>
      <vt:lpstr>  Significance of Intermediate Code Generation </vt:lpstr>
      <vt:lpstr>Introduction</vt:lpstr>
      <vt:lpstr>What is Intermediate Code Generation?</vt:lpstr>
      <vt:lpstr>Why Intermediate Code is Used</vt:lpstr>
      <vt:lpstr>Position in Compiler Phases</vt:lpstr>
      <vt:lpstr>Case Study Java Compiler &amp; Bytecode</vt:lpstr>
      <vt:lpstr>Java Compilation Process</vt:lpstr>
      <vt:lpstr>Benefits of Machine Independent Intermediate Code</vt:lpstr>
      <vt:lpstr>Role of Intermediate Code Generation</vt:lpstr>
      <vt:lpstr>Why Not Generate Machine Code Directly?</vt:lpstr>
      <vt:lpstr>Types of Intermediate Code</vt:lpstr>
      <vt:lpstr>Common Intermediate Code Representations</vt:lpstr>
      <vt:lpstr>Postfix Notation</vt:lpstr>
      <vt:lpstr>Three-Address Code (TAC)</vt:lpstr>
      <vt:lpstr>There are 3 ways to represent a Three Address Code in compiler design</vt:lpstr>
      <vt:lpstr>Syntax Tree </vt:lpstr>
      <vt:lpstr>Example of Syntax Tree </vt:lpstr>
      <vt:lpstr>Advantages</vt:lpstr>
      <vt:lpstr>Disadvantages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MSI</dc:creator>
  <cp:lastModifiedBy>MSI</cp:lastModifiedBy>
  <cp:revision>9</cp:revision>
  <dcterms:created xsi:type="dcterms:W3CDTF">2025-12-17T10:59:26Z</dcterms:created>
  <dcterms:modified xsi:type="dcterms:W3CDTF">2025-12-17T17:52:01Z</dcterms:modified>
</cp:coreProperties>
</file>